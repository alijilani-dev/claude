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Economica"/>
      <p:regular r:id="rId23"/>
      <p:bold r:id="rId24"/>
      <p:italic r:id="rId25"/>
      <p:boldItalic r:id="rId26"/>
    </p:embeddedFont>
    <p:embeddedFont>
      <p:font typeface="Open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Economica-bold.fntdata"/><Relationship Id="rId23" Type="http://schemas.openxmlformats.org/officeDocument/2006/relationships/font" Target="fonts/Economica-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Economica-boldItalic.fntdata"/><Relationship Id="rId25" Type="http://schemas.openxmlformats.org/officeDocument/2006/relationships/font" Target="fonts/Economica-italic.fntdata"/><Relationship Id="rId28" Type="http://schemas.openxmlformats.org/officeDocument/2006/relationships/font" Target="fonts/OpenSans-bold.fntdata"/><Relationship Id="rId27" Type="http://schemas.openxmlformats.org/officeDocument/2006/relationships/font" Target="fonts/Open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Open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c6f8954bc_0_5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c6f8954bc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c6f8954bc_0_5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c6f8954bc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b44099ccec_0_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b44099cce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b44099ccec_0_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b44099cce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44099ccec_0_3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b44099cce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44099ccec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b44099cce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44099ccec_0_4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b44099ccec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44099ccec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b44099cce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b44099ccec_0_5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b44099cce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b438192cab_0_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b438192ca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438192cab_0_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b438192ca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b438192cab_0_3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b438192ca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b438192cab_0_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b438192ca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b438192cab_0_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b438192ca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438192cab_0_1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b438192cab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b438192cab_0_11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b438192cab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b438192cab_0_12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b438192cab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hyperlink" Target="http://inject-medical-context.py"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2789100" y="1508400"/>
            <a:ext cx="35658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Hooks &amp; Extensions Assignment</a:t>
            </a:r>
            <a:endParaRPr/>
          </a:p>
        </p:txBody>
      </p:sp>
      <p:sp>
        <p:nvSpPr>
          <p:cNvPr id="63" name="Google Shape;63;p13"/>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January 1,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cxnSp>
        <p:nvCxnSpPr>
          <p:cNvPr id="68" name="Google Shape;68;p14"/>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69" name="Google Shape;69;p1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Workflow Description</a:t>
            </a:r>
            <a:endParaRPr/>
          </a:p>
        </p:txBody>
      </p:sp>
      <p:sp>
        <p:nvSpPr>
          <p:cNvPr id="70" name="Google Shape;70;p14"/>
          <p:cNvSpPr txBox="1"/>
          <p:nvPr>
            <p:ph idx="4294967295" type="body"/>
          </p:nvPr>
        </p:nvSpPr>
        <p:spPr>
          <a:xfrm>
            <a:off x="420075" y="1219700"/>
            <a:ext cx="8336100" cy="368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AI as a Student : Step-by-step</a:t>
            </a:r>
            <a:endParaRPr b="1" i="1"/>
          </a:p>
          <a:p>
            <a:pPr indent="0" lvl="0" marL="0" rtl="0" algn="l">
              <a:spcBef>
                <a:spcPts val="0"/>
              </a:spcBef>
              <a:spcAft>
                <a:spcPts val="0"/>
              </a:spcAft>
              <a:buClr>
                <a:schemeClr val="dk1"/>
              </a:buClr>
              <a:buSzPts val="1100"/>
              <a:buFont typeface="Arial"/>
              <a:buNone/>
            </a:pPr>
            <a:r>
              <a:rPr i="1" lang="en" sz="1200">
                <a:latin typeface="Arial"/>
                <a:ea typeface="Arial"/>
                <a:cs typeface="Arial"/>
                <a:sym typeface="Arial"/>
              </a:rPr>
              <a:t>Given below are the steps of my study-system workflow.</a:t>
            </a:r>
            <a:endParaRPr i="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1. My project has an agent named study-notes that generates study content on a given topic or concept title.</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2. My project also has tutor-agent that uses specialized and focused expertise of study-notes to support step by step learning on a given topic, or concept.</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3. The flashcard-agent in my project uses output from step 2 together with specialized and focused expertise of study-notes agent and its own ability to generate flashcards that help user in interview and exam preparation and concept reinforcement.</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4. My quiz-master intelligently wraps specialized and focused expertise of study-notes and contains expertise to generate meaningful questions from source content, to generate assessment items from learning material, to design evaluative questions to measure understanding, to promote active recall from learned material</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4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400">
                <a:latin typeface="Arial"/>
                <a:ea typeface="Arial"/>
                <a:cs typeface="Arial"/>
                <a:sym typeface="Arial"/>
              </a:rPr>
              <a:t>I want to create a hook that automates the study-system workflow. What event should trigger it? What command should run? What should I watch out for?</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cxnSp>
        <p:nvCxnSpPr>
          <p:cNvPr id="75" name="Google Shape;75;p15"/>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76" name="Google Shape;76;p1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Workflow Description</a:t>
            </a:r>
            <a:endParaRPr/>
          </a:p>
        </p:txBody>
      </p:sp>
      <p:sp>
        <p:nvSpPr>
          <p:cNvPr id="77" name="Google Shape;77;p15"/>
          <p:cNvSpPr txBox="1"/>
          <p:nvPr>
            <p:ph idx="4294967295" type="body"/>
          </p:nvPr>
        </p:nvSpPr>
        <p:spPr>
          <a:xfrm>
            <a:off x="420075" y="1219700"/>
            <a:ext cx="8336100" cy="367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Recommended Architectural Approaches </a:t>
            </a:r>
            <a:endParaRPr b="1" i="1"/>
          </a:p>
          <a:p>
            <a:pPr indent="0" lvl="0" marL="0" rtl="0" algn="l">
              <a:spcBef>
                <a:spcPts val="0"/>
              </a:spcBef>
              <a:spcAft>
                <a:spcPts val="0"/>
              </a:spcAft>
              <a:buClr>
                <a:schemeClr val="dk1"/>
              </a:buClr>
              <a:buSzPts val="1100"/>
              <a:buFont typeface="Arial"/>
              <a:buNone/>
            </a:pPr>
            <a:r>
              <a:rPr i="1" lang="en" sz="1200">
                <a:latin typeface="Arial"/>
                <a:ea typeface="Arial"/>
                <a:cs typeface="Arial"/>
                <a:sym typeface="Arial"/>
              </a:rPr>
              <a:t>Given below are the </a:t>
            </a:r>
            <a:r>
              <a:rPr i="1" lang="en" sz="1200">
                <a:latin typeface="Arial"/>
                <a:ea typeface="Arial"/>
                <a:cs typeface="Arial"/>
                <a:sym typeface="Arial"/>
              </a:rPr>
              <a:t>proposed three superior alternatives to hook-based automation for</a:t>
            </a:r>
            <a:r>
              <a:rPr i="1" lang="en" sz="1200">
                <a:latin typeface="Arial"/>
                <a:ea typeface="Arial"/>
                <a:cs typeface="Arial"/>
                <a:sym typeface="Arial"/>
              </a:rPr>
              <a:t> study-system workflow.</a:t>
            </a:r>
            <a:endParaRPr i="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Option 1: Slash Command Orchestration (Recommended)</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Option 2: Dedicated Study-Coach Agent </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Option 3: Hybrid Approach with </a:t>
            </a:r>
            <a:r>
              <a:rPr b="1" i="1" lang="en" sz="1300">
                <a:solidFill>
                  <a:srgbClr val="6D9EEB"/>
                </a:solidFill>
                <a:latin typeface="Arial"/>
                <a:ea typeface="Arial"/>
                <a:cs typeface="Arial"/>
                <a:sym typeface="Arial"/>
              </a:rPr>
              <a:t>Hook-Based</a:t>
            </a:r>
            <a:r>
              <a:rPr b="1" i="1" lang="en" sz="1300">
                <a:solidFill>
                  <a:srgbClr val="00FF00"/>
                </a:solidFill>
                <a:latin typeface="Arial"/>
                <a:ea typeface="Arial"/>
                <a:cs typeface="Arial"/>
                <a:sym typeface="Arial"/>
              </a:rPr>
              <a:t> </a:t>
            </a:r>
            <a:r>
              <a:rPr i="1" lang="en" sz="1300">
                <a:latin typeface="Arial"/>
                <a:ea typeface="Arial"/>
                <a:cs typeface="Arial"/>
                <a:sym typeface="Arial"/>
              </a:rPr>
              <a:t>Validation</a:t>
            </a:r>
            <a:br>
              <a:rPr i="1" lang="en" sz="1300">
                <a:latin typeface="Arial"/>
                <a:ea typeface="Arial"/>
                <a:cs typeface="Arial"/>
                <a:sym typeface="Arial"/>
              </a:rPr>
            </a:b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Option 3 - </a:t>
            </a:r>
            <a:r>
              <a:rPr i="1" lang="en" sz="1300">
                <a:latin typeface="Arial"/>
                <a:ea typeface="Arial"/>
                <a:cs typeface="Arial"/>
                <a:sym typeface="Arial"/>
              </a:rPr>
              <a:t>Architecture:</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1. </a:t>
            </a:r>
            <a:r>
              <a:rPr b="1" i="1" lang="en" sz="1300">
                <a:latin typeface="Arial"/>
                <a:ea typeface="Arial"/>
                <a:cs typeface="Arial"/>
                <a:sym typeface="Arial"/>
              </a:rPr>
              <a:t>Primary orchestration: </a:t>
            </a:r>
            <a:r>
              <a:rPr i="1" lang="en" sz="1300">
                <a:latin typeface="Arial"/>
                <a:ea typeface="Arial"/>
                <a:cs typeface="Arial"/>
                <a:sym typeface="Arial"/>
              </a:rPr>
              <a:t>Use slash command or study-coach agent (as above)</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2. </a:t>
            </a:r>
            <a:r>
              <a:rPr b="1" i="1" lang="en" sz="1300">
                <a:latin typeface="Arial"/>
                <a:ea typeface="Arial"/>
                <a:cs typeface="Arial"/>
                <a:sym typeface="Arial"/>
              </a:rPr>
              <a:t>Hooks for enforcement:</a:t>
            </a:r>
            <a:r>
              <a:rPr i="1" lang="en" sz="1300">
                <a:latin typeface="Arial"/>
                <a:ea typeface="Arial"/>
                <a:cs typeface="Arial"/>
                <a:sym typeface="Arial"/>
              </a:rPr>
              <a:t> Add hooks to ensure workflow integrity</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3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cxnSp>
        <p:nvCxnSpPr>
          <p:cNvPr id="82" name="Google Shape;82;p16"/>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83" name="Google Shape;83;p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Workflow Description</a:t>
            </a:r>
            <a:endParaRPr/>
          </a:p>
        </p:txBody>
      </p:sp>
      <p:sp>
        <p:nvSpPr>
          <p:cNvPr id="84" name="Google Shape;84;p16"/>
          <p:cNvSpPr txBox="1"/>
          <p:nvPr>
            <p:ph idx="4294967295" type="body"/>
          </p:nvPr>
        </p:nvSpPr>
        <p:spPr>
          <a:xfrm>
            <a:off x="420075" y="1219700"/>
            <a:ext cx="8336100" cy="367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Recommended Architectural Approaches </a:t>
            </a:r>
            <a:endParaRPr b="1" i="1"/>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1. What event should trigger the hook?</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For initiating the workflow:</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a:t>
            </a:r>
            <a:r>
              <a:rPr b="1" i="1" lang="en" sz="1300">
                <a:latin typeface="Arial"/>
                <a:ea typeface="Arial"/>
                <a:cs typeface="Arial"/>
                <a:sym typeface="Arial"/>
              </a:rPr>
              <a:t>UserPromptSubmit:</a:t>
            </a:r>
            <a:r>
              <a:rPr i="1" lang="en" sz="1300">
                <a:latin typeface="Arial"/>
                <a:ea typeface="Arial"/>
                <a:cs typeface="Arial"/>
                <a:sym typeface="Arial"/>
              </a:rPr>
              <a:t> Intercept user prompts and detect workflow trigger keywords</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Match patterns like "start study session on [topic]"</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Inject additional context to guide the main agent toward orchestrating the workflow</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Limitation: Cannot directly invoke agents; can only influence the main agent's behavior</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For chaining agents sequentially:</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a:t>
            </a:r>
            <a:r>
              <a:rPr b="1" i="1" lang="en" sz="1300">
                <a:latin typeface="Arial"/>
                <a:ea typeface="Arial"/>
                <a:cs typeface="Arial"/>
                <a:sym typeface="Arial"/>
              </a:rPr>
              <a:t>SubagentStop:</a:t>
            </a:r>
            <a:r>
              <a:rPr i="1" lang="en" sz="1300">
                <a:latin typeface="Arial"/>
                <a:ea typeface="Arial"/>
                <a:cs typeface="Arial"/>
                <a:sym typeface="Arial"/>
              </a:rPr>
              <a:t> React when each agent completes</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Evaluate completion status</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Decide whether to continue to the next agent</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Limitation: Requires complex state management in the hook script to track workflow position</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3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cxnSp>
        <p:nvCxnSpPr>
          <p:cNvPr id="89" name="Google Shape;89;p17"/>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90" name="Google Shape;90;p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Workflow Description</a:t>
            </a:r>
            <a:endParaRPr/>
          </a:p>
        </p:txBody>
      </p:sp>
      <p:sp>
        <p:nvSpPr>
          <p:cNvPr id="91" name="Google Shape;91;p17"/>
          <p:cNvSpPr txBox="1"/>
          <p:nvPr>
            <p:ph idx="4294967295" type="body"/>
          </p:nvPr>
        </p:nvSpPr>
        <p:spPr>
          <a:xfrm>
            <a:off x="420075" y="1219700"/>
            <a:ext cx="8336100" cy="367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Recommended Architectural Approaches </a:t>
            </a:r>
            <a:endParaRPr b="1" i="1"/>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2. What command should run?</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Given the complexity of sequential agent invocation, the hook command would need to:</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#!/usr/bin/env bash</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.claude/hooks/study-workflow-orchestrator.sh</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3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cxnSp>
        <p:nvCxnSpPr>
          <p:cNvPr id="96" name="Google Shape;96;p18"/>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97" name="Google Shape;97;p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Workflow Description</a:t>
            </a:r>
            <a:endParaRPr/>
          </a:p>
        </p:txBody>
      </p:sp>
      <p:sp>
        <p:nvSpPr>
          <p:cNvPr id="98" name="Google Shape;98;p18"/>
          <p:cNvSpPr txBox="1"/>
          <p:nvPr>
            <p:ph idx="4294967295" type="body"/>
          </p:nvPr>
        </p:nvSpPr>
        <p:spPr>
          <a:xfrm>
            <a:off x="420075" y="1219700"/>
            <a:ext cx="8336100" cy="367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3. What should you watch out for? - Critical Considerations:</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1. Architectural Mismatch: Hooks are meta-level governance mechanisms, not orchestration engines</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Attempting to orchestrate complex workflows via hooks violates their design intent</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You are essentially implementing a state machine in a reactive callback system</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2. Context Propagation Challenges:</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Hooks receive limited context via stdin</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Accessing prior agent outputs requires reading session transcript files</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Transcript parsing adds complexity and fragility</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3. Infinite Loop Risk:</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SubagentStop hooks that block without checking stop_hook_active can cause infinite loops</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Always implement loop-breaking logic: if stop_hook_active then allow</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200">
                <a:latin typeface="Arial"/>
                <a:ea typeface="Arial"/>
                <a:cs typeface="Arial"/>
                <a:sym typeface="Arial"/>
              </a:rPr>
              <a:t>  </a:t>
            </a:r>
            <a:endParaRPr i="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3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cxnSp>
        <p:nvCxnSpPr>
          <p:cNvPr id="103" name="Google Shape;103;p19"/>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104" name="Google Shape;104;p1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Workflow Description</a:t>
            </a:r>
            <a:endParaRPr/>
          </a:p>
        </p:txBody>
      </p:sp>
      <p:sp>
        <p:nvSpPr>
          <p:cNvPr id="105" name="Google Shape;105;p19"/>
          <p:cNvSpPr txBox="1"/>
          <p:nvPr>
            <p:ph idx="4294967295" type="body"/>
          </p:nvPr>
        </p:nvSpPr>
        <p:spPr>
          <a:xfrm>
            <a:off x="420075" y="1219700"/>
            <a:ext cx="8336100" cy="367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3. What should you watch out for? - Critical Considerations:</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a:t>
            </a:r>
            <a:r>
              <a:rPr i="1" lang="en" sz="1300">
                <a:latin typeface="Arial"/>
                <a:ea typeface="Arial"/>
                <a:cs typeface="Arial"/>
                <a:sym typeface="Arial"/>
              </a:rPr>
              <a:t>4. State Synchronization:</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Workflow state files can become corrupted if hooks fail mid-execution</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No transactional guarantees for state updates</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Multiple concurrent workflows (unlikely but possible) would corrupt shared state</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5. Debugging Opacity:</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Hook execution is hidden unless verbose mode is enabled (Ctrl+O)</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Failed hooks fail silently if exit codes are not properly configured</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Error messages in stderr are not always visible to users</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6. Timeout Exhaustion:</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Complex orchestration logic may exceed default 60-second timeout</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Silent failure if timeout is exceeded</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No automatic retry mechanism</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7. Maintenance Burden:</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Hook scripts require separate testing and validation</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JSON output schema must be meticulously correct</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    - Changes to agent APIs require corresponding hook updates</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200">
                <a:latin typeface="Arial"/>
                <a:ea typeface="Arial"/>
                <a:cs typeface="Arial"/>
                <a:sym typeface="Arial"/>
              </a:rPr>
              <a:t>  </a:t>
            </a:r>
            <a:endParaRPr i="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3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cxnSp>
        <p:nvCxnSpPr>
          <p:cNvPr id="110" name="Google Shape;110;p20"/>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111" name="Google Shape;111;p2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Workflow Description</a:t>
            </a:r>
            <a:endParaRPr/>
          </a:p>
        </p:txBody>
      </p:sp>
      <p:sp>
        <p:nvSpPr>
          <p:cNvPr id="112" name="Google Shape;112;p20"/>
          <p:cNvSpPr txBox="1"/>
          <p:nvPr>
            <p:ph idx="4294967295" type="body"/>
          </p:nvPr>
        </p:nvSpPr>
        <p:spPr>
          <a:xfrm>
            <a:off x="420075" y="1219700"/>
            <a:ext cx="8336100" cy="367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Creating settings.json</a:t>
            </a:r>
            <a:r>
              <a:rPr b="1" i="1" lang="en"/>
              <a:t> </a:t>
            </a:r>
            <a:endParaRPr b="1" i="1"/>
          </a:p>
          <a:p>
            <a:pPr indent="0" lvl="0" marL="0" rtl="0" algn="l">
              <a:spcBef>
                <a:spcPts val="0"/>
              </a:spcBef>
              <a:spcAft>
                <a:spcPts val="0"/>
              </a:spcAft>
              <a:buClr>
                <a:schemeClr val="dk1"/>
              </a:buClr>
              <a:buSzPts val="1100"/>
              <a:buFont typeface="Arial"/>
              <a:buNone/>
            </a:pPr>
            <a:br>
              <a:rPr i="1" lang="en" sz="1200">
                <a:latin typeface="Arial"/>
                <a:ea typeface="Arial"/>
                <a:cs typeface="Arial"/>
                <a:sym typeface="Arial"/>
              </a:rPr>
            </a:br>
            <a:r>
              <a:rPr i="1" lang="en" sz="1200">
                <a:latin typeface="Arial"/>
                <a:ea typeface="Arial"/>
                <a:cs typeface="Arial"/>
                <a:sym typeface="Arial"/>
              </a:rPr>
              <a:t>Create a project level settings.json (project preference) file to generate notes for me. I’m a medical student with no engineering background. My domain expertise are in biology so always relate your examples with nature and living things for my improved understanding. Use context7 to create setting.json file in claude code following proper standards.</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br>
              <a:rPr i="1" lang="en" sz="1300">
                <a:latin typeface="Arial"/>
                <a:ea typeface="Arial"/>
                <a:cs typeface="Arial"/>
                <a:sym typeface="Arial"/>
              </a:rPr>
            </a:br>
            <a:r>
              <a:rPr i="1" lang="en" sz="1300">
                <a:latin typeface="Arial"/>
                <a:ea typeface="Arial"/>
                <a:cs typeface="Arial"/>
                <a:sym typeface="Arial"/>
              </a:rPr>
              <a:t>Creating comprehensive configuration that automatically injects my medical background context into every session, ensuring all technical explanations employ biological analogies.</a:t>
            </a:r>
            <a:endParaRPr i="1" sz="1300">
              <a:latin typeface="Arial"/>
              <a:ea typeface="Arial"/>
              <a:cs typeface="Arial"/>
              <a:sym typeface="Arial"/>
            </a:endParaRPr>
          </a:p>
          <a:p>
            <a:pPr indent="0" lvl="0" marL="0" rtl="0" algn="l">
              <a:spcBef>
                <a:spcPts val="0"/>
              </a:spcBef>
              <a:spcAft>
                <a:spcPts val="0"/>
              </a:spcAft>
              <a:buClr>
                <a:schemeClr val="dk1"/>
              </a:buClr>
              <a:buSzPts val="1100"/>
              <a:buFont typeface="Arial"/>
              <a:buNone/>
            </a:pPr>
            <a:br>
              <a:rPr i="1" lang="en" sz="1300">
                <a:latin typeface="Arial"/>
                <a:ea typeface="Arial"/>
                <a:cs typeface="Arial"/>
                <a:sym typeface="Arial"/>
              </a:rPr>
            </a:br>
            <a:r>
              <a:rPr i="1" lang="en" sz="1300">
                <a:latin typeface="Arial"/>
                <a:ea typeface="Arial"/>
                <a:cs typeface="Arial"/>
                <a:sym typeface="Arial"/>
              </a:rPr>
              <a:t>.claude\hooks\</a:t>
            </a:r>
            <a:r>
              <a:rPr i="1" lang="en" sz="1300" u="sng">
                <a:solidFill>
                  <a:schemeClr val="hlink"/>
                </a:solidFill>
                <a:latin typeface="Arial"/>
                <a:ea typeface="Arial"/>
                <a:cs typeface="Arial"/>
                <a:sym typeface="Arial"/>
                <a:hlinkClick r:id="rId3"/>
              </a:rPr>
              <a:t>inject-medical-context.py</a:t>
            </a:r>
            <a:endParaRPr i="1" sz="1300">
              <a:solidFill>
                <a:srgbClr val="1155CC"/>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300">
              <a:solidFill>
                <a:srgbClr val="1155CC"/>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300">
                <a:latin typeface="Arial"/>
                <a:ea typeface="Arial"/>
                <a:cs typeface="Arial"/>
                <a:sym typeface="Arial"/>
              </a:rPr>
              <a:t>Write(</a:t>
            </a:r>
            <a:r>
              <a:rPr i="1" lang="en" sz="1300" u="sng">
                <a:solidFill>
                  <a:schemeClr val="hlink"/>
                </a:solidFill>
                <a:latin typeface="Arial"/>
                <a:ea typeface="Arial"/>
                <a:cs typeface="Arial"/>
                <a:sym typeface="Arial"/>
              </a:rPr>
              <a:t>.claude\settings.json</a:t>
            </a:r>
            <a:r>
              <a:rPr i="1" lang="en" sz="1300">
                <a:latin typeface="Arial"/>
                <a:ea typeface="Arial"/>
                <a:cs typeface="Arial"/>
                <a:sym typeface="Arial"/>
              </a:rPr>
              <a:t>)</a:t>
            </a:r>
            <a:endParaRPr i="1" sz="13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cxnSp>
        <p:nvCxnSpPr>
          <p:cNvPr id="117" name="Google Shape;117;p21"/>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118" name="Google Shape;118;p2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Workflow Description</a:t>
            </a:r>
            <a:endParaRPr/>
          </a:p>
        </p:txBody>
      </p:sp>
      <p:sp>
        <p:nvSpPr>
          <p:cNvPr id="119" name="Google Shape;119;p21"/>
          <p:cNvSpPr txBox="1"/>
          <p:nvPr>
            <p:ph idx="4294967295" type="body"/>
          </p:nvPr>
        </p:nvSpPr>
        <p:spPr>
          <a:xfrm>
            <a:off x="420075" y="1219700"/>
            <a:ext cx="8336100" cy="367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Creating settings.json </a:t>
            </a:r>
            <a:endParaRPr b="1" i="1"/>
          </a:p>
          <a:p>
            <a:pPr indent="0" lvl="0" marL="0" rtl="0" algn="l">
              <a:spcBef>
                <a:spcPts val="0"/>
              </a:spcBef>
              <a:spcAft>
                <a:spcPts val="0"/>
              </a:spcAft>
              <a:buClr>
                <a:schemeClr val="dk1"/>
              </a:buClr>
              <a:buSzPts val="1100"/>
              <a:buFont typeface="Arial"/>
              <a:buNone/>
            </a:pPr>
            <a:br>
              <a:rPr i="1" lang="en" sz="1200">
                <a:latin typeface="Arial"/>
                <a:ea typeface="Arial"/>
                <a:cs typeface="Arial"/>
                <a:sym typeface="Arial"/>
              </a:rPr>
            </a:br>
            <a:r>
              <a:rPr i="1" lang="en" sz="1200">
                <a:latin typeface="Arial"/>
                <a:ea typeface="Arial"/>
                <a:cs typeface="Arial"/>
                <a:sym typeface="Arial"/>
              </a:rPr>
              <a:t>Hook Execution Lifecycle</a:t>
            </a:r>
            <a:endParaRPr i="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200">
                <a:latin typeface="Arial"/>
                <a:ea typeface="Arial"/>
                <a:cs typeface="Arial"/>
                <a:sym typeface="Arial"/>
              </a:rPr>
              <a:t>  Session Start → settings.json loaded → SessionStart hooks detected</a:t>
            </a:r>
            <a:endParaRPr i="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200">
                <a:latin typeface="Arial"/>
                <a:ea typeface="Arial"/>
                <a:cs typeface="Arial"/>
                <a:sym typeface="Arial"/>
              </a:rPr>
              <a:t>      ↓</a:t>
            </a:r>
            <a:endParaRPr i="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200">
                <a:latin typeface="Arial"/>
                <a:ea typeface="Arial"/>
                <a:cs typeface="Arial"/>
                <a:sym typeface="Arial"/>
              </a:rPr>
              <a:t>  Python script executed → JSON received via stdin</a:t>
            </a:r>
            <a:endParaRPr i="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200">
                <a:latin typeface="Arial"/>
                <a:ea typeface="Arial"/>
                <a:cs typeface="Arial"/>
                <a:sym typeface="Arial"/>
              </a:rPr>
              <a:t>      ↓</a:t>
            </a:r>
            <a:endParaRPr i="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200">
                <a:latin typeface="Arial"/>
                <a:ea typeface="Arial"/>
                <a:cs typeface="Arial"/>
                <a:sym typeface="Arial"/>
              </a:rPr>
              <a:t>  Context constructed → JSON output to stdout (exit code 0)</a:t>
            </a:r>
            <a:endParaRPr i="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200">
                <a:latin typeface="Arial"/>
                <a:ea typeface="Arial"/>
                <a:cs typeface="Arial"/>
                <a:sym typeface="Arial"/>
              </a:rPr>
              <a:t>      ↓</a:t>
            </a:r>
            <a:endParaRPr i="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200">
                <a:latin typeface="Arial"/>
                <a:ea typeface="Arial"/>
                <a:cs typeface="Arial"/>
                <a:sym typeface="Arial"/>
              </a:rPr>
              <a:t>  Claude Code absorbs additionalContext → Context persists throughout session</a:t>
            </a:r>
            <a:endParaRPr i="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200">
                <a:latin typeface="Arial"/>
                <a:ea typeface="Arial"/>
                <a:cs typeface="Arial"/>
                <a:sym typeface="Arial"/>
              </a:rPr>
              <a:t>      ↓</a:t>
            </a:r>
            <a:endParaRPr i="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i="1" lang="en" sz="1200">
                <a:latin typeface="Arial"/>
                <a:ea typeface="Arial"/>
                <a:cs typeface="Arial"/>
                <a:sym typeface="Arial"/>
              </a:rPr>
              <a:t>  All subsequent responses employ biological analogies</a:t>
            </a:r>
            <a:endParaRPr i="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i="1" sz="120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cxnSp>
        <p:nvCxnSpPr>
          <p:cNvPr id="124" name="Google Shape;124;p22"/>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125" name="Google Shape;125;p22"/>
          <p:cNvSpPr txBox="1"/>
          <p:nvPr>
            <p:ph type="title"/>
          </p:nvPr>
        </p:nvSpPr>
        <p:spPr>
          <a:xfrm>
            <a:off x="311700" y="69978"/>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Agent Activation</a:t>
            </a:r>
            <a:endParaRPr/>
          </a:p>
        </p:txBody>
      </p:sp>
      <p:pic>
        <p:nvPicPr>
          <p:cNvPr id="126" name="Google Shape;126;p22"/>
          <p:cNvPicPr preferRelativeResize="0"/>
          <p:nvPr/>
        </p:nvPicPr>
        <p:blipFill>
          <a:blip r:embed="rId3">
            <a:alphaModFix/>
          </a:blip>
          <a:stretch>
            <a:fillRect/>
          </a:stretch>
        </p:blipFill>
        <p:spPr>
          <a:xfrm>
            <a:off x="74037" y="1002215"/>
            <a:ext cx="8995925" cy="4144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cxnSp>
        <p:nvCxnSpPr>
          <p:cNvPr id="131" name="Google Shape;131;p23"/>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132" name="Google Shape;132;p2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Agent Description</a:t>
            </a:r>
            <a:endParaRPr/>
          </a:p>
        </p:txBody>
      </p:sp>
      <p:sp>
        <p:nvSpPr>
          <p:cNvPr id="133" name="Google Shape;133;p23"/>
          <p:cNvSpPr txBox="1"/>
          <p:nvPr>
            <p:ph idx="4294967295" type="body"/>
          </p:nvPr>
        </p:nvSpPr>
        <p:spPr>
          <a:xfrm>
            <a:off x="420075" y="1219700"/>
            <a:ext cx="8336100" cy="368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Flashcard</a:t>
            </a:r>
            <a:r>
              <a:rPr b="1" lang="en"/>
              <a:t>-Agent</a:t>
            </a:r>
            <a:endParaRPr b="1"/>
          </a:p>
          <a:p>
            <a:pPr indent="0" lvl="0" marL="0" rtl="0" algn="l">
              <a:lnSpc>
                <a:spcPct val="115000"/>
              </a:lnSpc>
              <a:spcBef>
                <a:spcPts val="0"/>
              </a:spcBef>
              <a:spcAft>
                <a:spcPts val="0"/>
              </a:spcAft>
              <a:buNone/>
            </a:pPr>
            <a:r>
              <a:rPr i="1" lang="en" sz="1400">
                <a:latin typeface="Arial"/>
                <a:ea typeface="Arial"/>
                <a:cs typeface="Arial"/>
                <a:sym typeface="Arial"/>
              </a:rPr>
              <a:t>Create an agent named flashcard-agent that tactically uses specialized and focused expertise of study-notes, tutor-agent and its own ability to actively recall (strengthen long term memory and reveal knowledge gaps), spaced repetition (prevent forgetting, optimize study time, increased retention with low effort), concept reinforcement, perform self-assessment and feedback, help in interview and exam preparation, skill automation (debugging heuristics, design patterns,</a:t>
            </a:r>
            <a:r>
              <a:rPr lang="en" sz="1200">
                <a:latin typeface="Arial"/>
                <a:ea typeface="Arial"/>
                <a:cs typeface="Arial"/>
                <a:sym typeface="Arial"/>
              </a:rPr>
              <a:t> m</a:t>
            </a:r>
            <a:r>
              <a:rPr i="1" lang="en" sz="1400">
                <a:latin typeface="Arial"/>
                <a:ea typeface="Arial"/>
                <a:cs typeface="Arial"/>
                <a:sym typeface="Arial"/>
              </a:rPr>
              <a:t>edical protocols, legal tests, </a:t>
            </a:r>
            <a:r>
              <a:rPr lang="en" sz="1200">
                <a:latin typeface="Arial"/>
                <a:ea typeface="Arial"/>
                <a:cs typeface="Arial"/>
                <a:sym typeface="Arial"/>
              </a:rPr>
              <a:t>c</a:t>
            </a:r>
            <a:r>
              <a:rPr i="1" lang="en" sz="1400">
                <a:latin typeface="Arial"/>
                <a:ea typeface="Arial"/>
                <a:cs typeface="Arial"/>
                <a:sym typeface="Arial"/>
              </a:rPr>
              <a:t>ommand syntax) and to guide user in learning new language (through increased vocabulary, grammar patterns, sentence structures and pronunciation cues).</a:t>
            </a:r>
            <a:endParaRPr i="1" sz="1400">
              <a:latin typeface="Arial"/>
              <a:ea typeface="Arial"/>
              <a:cs typeface="Arial"/>
              <a:sym typeface="Arial"/>
            </a:endParaRPr>
          </a:p>
          <a:p>
            <a:pPr indent="0" lvl="0" marL="0" rtl="0" algn="l">
              <a:lnSpc>
                <a:spcPct val="115000"/>
              </a:lnSpc>
              <a:spcBef>
                <a:spcPts val="0"/>
              </a:spcBef>
              <a:spcAft>
                <a:spcPts val="0"/>
              </a:spcAft>
              <a:buNone/>
            </a:pPr>
            <a:r>
              <a:rPr i="1" lang="en" sz="1400">
                <a:latin typeface="Arial"/>
                <a:ea typeface="Arial"/>
                <a:cs typeface="Arial"/>
                <a:sym typeface="Arial"/>
              </a:rPr>
              <a:t> </a:t>
            </a:r>
            <a:endParaRPr i="1" sz="1400">
              <a:latin typeface="Arial"/>
              <a:ea typeface="Arial"/>
              <a:cs typeface="Arial"/>
              <a:sym typeface="Arial"/>
            </a:endParaRPr>
          </a:p>
          <a:p>
            <a:pPr indent="0" lvl="0" marL="0" rtl="0" algn="l">
              <a:lnSpc>
                <a:spcPct val="115000"/>
              </a:lnSpc>
              <a:spcBef>
                <a:spcPts val="0"/>
              </a:spcBef>
              <a:spcAft>
                <a:spcPts val="0"/>
              </a:spcAft>
              <a:buNone/>
            </a:pPr>
            <a:r>
              <a:rPr i="1" lang="en" sz="1400">
                <a:latin typeface="Arial"/>
                <a:ea typeface="Arial"/>
                <a:cs typeface="Arial"/>
                <a:sym typeface="Arial"/>
              </a:rPr>
              <a:t>Use this agent when the user h</a:t>
            </a:r>
            <a:r>
              <a:rPr lang="en" sz="1200">
                <a:latin typeface="Arial"/>
                <a:ea typeface="Arial"/>
                <a:cs typeface="Arial"/>
                <a:sym typeface="Arial"/>
              </a:rPr>
              <a:t>as </a:t>
            </a:r>
            <a:r>
              <a:rPr i="1" lang="en" sz="1400">
                <a:latin typeface="Arial"/>
                <a:ea typeface="Arial"/>
                <a:cs typeface="Arial"/>
                <a:sym typeface="Arial"/>
              </a:rPr>
              <a:t>learned a topic or concept to reinforce memory, during review, exam prep, spaced repetition or for support in learning a new language.</a:t>
            </a:r>
            <a:endParaRPr i="1" sz="1400">
              <a:latin typeface="Arial"/>
              <a:ea typeface="Arial"/>
              <a:cs typeface="Arial"/>
              <a:sym typeface="Arial"/>
            </a:endParaRPr>
          </a:p>
          <a:p>
            <a:pPr indent="0" lvl="0" marL="0" rtl="0" algn="l">
              <a:lnSpc>
                <a:spcPct val="115000"/>
              </a:lnSpc>
              <a:spcBef>
                <a:spcPts val="0"/>
              </a:spcBef>
              <a:spcAft>
                <a:spcPts val="0"/>
              </a:spcAft>
              <a:buNone/>
            </a:pPr>
            <a:r>
              <a:t/>
            </a:r>
            <a:endParaRPr sz="1400">
              <a:solidFill>
                <a:srgbClr val="EE0000"/>
              </a:solidFill>
              <a:latin typeface="Arial"/>
              <a:ea typeface="Arial"/>
              <a:cs typeface="Arial"/>
              <a:sym typeface="Arial"/>
            </a:endParaRPr>
          </a:p>
          <a:p>
            <a:pPr indent="0" lvl="0" marL="0" rtl="0" algn="l">
              <a:spcBef>
                <a:spcPts val="0"/>
              </a:spcBef>
              <a:spcAft>
                <a:spcPts val="0"/>
              </a:spcAft>
              <a:buNone/>
            </a:pPr>
            <a:r>
              <a:rPr b="1" i="1" lang="en" sz="1400">
                <a:latin typeface="Arial"/>
                <a:ea typeface="Arial"/>
                <a:cs typeface="Arial"/>
                <a:sym typeface="Arial"/>
              </a:rPr>
              <a:t>Activation Prompt:</a:t>
            </a:r>
            <a:r>
              <a:rPr i="1" lang="en" sz="1400">
                <a:latin typeface="Arial"/>
                <a:ea typeface="Arial"/>
                <a:cs typeface="Arial"/>
                <a:sym typeface="Arial"/>
              </a:rPr>
              <a:t> </a:t>
            </a:r>
            <a:r>
              <a:rPr i="1" lang="en" sz="1400">
                <a:latin typeface="Arial"/>
                <a:ea typeface="Arial"/>
                <a:cs typeface="Arial"/>
                <a:sym typeface="Arial"/>
              </a:rPr>
              <a:t>Using the Tutor Agent Output above, generate a flashcard that tests understanding, not memorization. Focus on conceptual distinction and application scenarios</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cxnSp>
        <p:nvCxnSpPr>
          <p:cNvPr id="138" name="Google Shape;138;p24"/>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139" name="Google Shape;139;p2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Work in Progress</a:t>
            </a:r>
            <a:endParaRPr/>
          </a:p>
        </p:txBody>
      </p:sp>
      <p:pic>
        <p:nvPicPr>
          <p:cNvPr id="140" name="Google Shape;140;p24"/>
          <p:cNvPicPr preferRelativeResize="0"/>
          <p:nvPr/>
        </p:nvPicPr>
        <p:blipFill>
          <a:blip r:embed="rId3">
            <a:alphaModFix/>
          </a:blip>
          <a:stretch>
            <a:fillRect/>
          </a:stretch>
        </p:blipFill>
        <p:spPr>
          <a:xfrm>
            <a:off x="152400" y="1299625"/>
            <a:ext cx="8839201" cy="29725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cxnSp>
        <p:nvCxnSpPr>
          <p:cNvPr id="145" name="Google Shape;145;p25"/>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146" name="Google Shape;146;p2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Agent Description</a:t>
            </a:r>
            <a:endParaRPr/>
          </a:p>
        </p:txBody>
      </p:sp>
      <p:sp>
        <p:nvSpPr>
          <p:cNvPr id="147" name="Google Shape;147;p25"/>
          <p:cNvSpPr txBox="1"/>
          <p:nvPr>
            <p:ph idx="4294967295" type="body"/>
          </p:nvPr>
        </p:nvSpPr>
        <p:spPr>
          <a:xfrm>
            <a:off x="420075" y="1219700"/>
            <a:ext cx="8336100" cy="324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Quiz</a:t>
            </a:r>
            <a:r>
              <a:rPr b="1" lang="en"/>
              <a:t>-Master</a:t>
            </a:r>
            <a:endParaRPr b="1"/>
          </a:p>
          <a:p>
            <a:pPr indent="0" lvl="0" marL="0" rtl="0" algn="l">
              <a:lnSpc>
                <a:spcPct val="115000"/>
              </a:lnSpc>
              <a:spcBef>
                <a:spcPts val="0"/>
              </a:spcBef>
              <a:spcAft>
                <a:spcPts val="0"/>
              </a:spcAft>
              <a:buNone/>
            </a:pPr>
            <a:r>
              <a:rPr i="1" lang="en" sz="1400">
                <a:latin typeface="Arial"/>
                <a:ea typeface="Arial"/>
                <a:cs typeface="Arial"/>
                <a:sym typeface="Arial"/>
              </a:rPr>
              <a:t>Create an agent named quiz-master that intelligently wraps specialized and focused expertise of study-notes, tutor-agent and contains expertise to generate meaningful questions from source content, to generate assessment items (questions, prompts, distractors) from learning material, to design evaluative questions to measure understanding, to promote active recall from learned material, to reinforce learning during study, to encourage explanation and reasoning, to verify comprehension of key concepts and to guide user learning through multi-step pedagogical approach.</a:t>
            </a:r>
            <a:endParaRPr i="1" sz="1400">
              <a:latin typeface="Arial"/>
              <a:ea typeface="Arial"/>
              <a:cs typeface="Arial"/>
              <a:sym typeface="Arial"/>
            </a:endParaRPr>
          </a:p>
          <a:p>
            <a:pPr indent="0" lvl="0" marL="0" rtl="0" algn="l">
              <a:lnSpc>
                <a:spcPct val="115000"/>
              </a:lnSpc>
              <a:spcBef>
                <a:spcPts val="0"/>
              </a:spcBef>
              <a:spcAft>
                <a:spcPts val="0"/>
              </a:spcAft>
              <a:buNone/>
            </a:pPr>
            <a:r>
              <a:t/>
            </a:r>
            <a:endParaRPr i="1" sz="1400">
              <a:latin typeface="Arial"/>
              <a:ea typeface="Arial"/>
              <a:cs typeface="Arial"/>
              <a:sym typeface="Arial"/>
            </a:endParaRPr>
          </a:p>
          <a:p>
            <a:pPr indent="0" lvl="0" marL="0" rtl="0" algn="l">
              <a:lnSpc>
                <a:spcPct val="115000"/>
              </a:lnSpc>
              <a:spcBef>
                <a:spcPts val="0"/>
              </a:spcBef>
              <a:spcAft>
                <a:spcPts val="0"/>
              </a:spcAft>
              <a:buNone/>
            </a:pPr>
            <a:r>
              <a:rPr i="1" lang="en" sz="1400">
                <a:latin typeface="Arial"/>
                <a:ea typeface="Arial"/>
                <a:cs typeface="Arial"/>
                <a:sym typeface="Arial"/>
              </a:rPr>
              <a:t>Use this agent when the user wants to reinforce newly learned concepts, evaluate their understanding of a topic, or practice active recall during or after study.</a:t>
            </a:r>
            <a:endParaRPr i="1" sz="1400">
              <a:latin typeface="Arial"/>
              <a:ea typeface="Arial"/>
              <a:cs typeface="Arial"/>
              <a:sym typeface="Arial"/>
            </a:endParaRPr>
          </a:p>
          <a:p>
            <a:pPr indent="0" lvl="0" marL="0" rtl="0" algn="l">
              <a:lnSpc>
                <a:spcPct val="115000"/>
              </a:lnSpc>
              <a:spcBef>
                <a:spcPts val="0"/>
              </a:spcBef>
              <a:spcAft>
                <a:spcPts val="0"/>
              </a:spcAft>
              <a:buNone/>
            </a:pPr>
            <a:r>
              <a:t/>
            </a:r>
            <a:endParaRPr sz="1400">
              <a:solidFill>
                <a:srgbClr val="EE0000"/>
              </a:solidFill>
              <a:latin typeface="Arial"/>
              <a:ea typeface="Arial"/>
              <a:cs typeface="Arial"/>
              <a:sym typeface="Arial"/>
            </a:endParaRPr>
          </a:p>
          <a:p>
            <a:pPr indent="0" lvl="0" marL="0" rtl="0" algn="l">
              <a:spcBef>
                <a:spcPts val="0"/>
              </a:spcBef>
              <a:spcAft>
                <a:spcPts val="0"/>
              </a:spcAft>
              <a:buNone/>
            </a:pPr>
            <a:r>
              <a:rPr b="1" i="1" lang="en" sz="1400">
                <a:latin typeface="Arial"/>
                <a:ea typeface="Arial"/>
                <a:cs typeface="Arial"/>
                <a:sym typeface="Arial"/>
              </a:rPr>
              <a:t>Activation Prompt:</a:t>
            </a:r>
            <a:r>
              <a:rPr i="1" lang="en" sz="1400">
                <a:latin typeface="Arial"/>
                <a:ea typeface="Arial"/>
                <a:cs typeface="Arial"/>
                <a:sym typeface="Arial"/>
              </a:rPr>
              <a:t> </a:t>
            </a:r>
            <a:r>
              <a:rPr i="1" lang="en" sz="1400">
                <a:latin typeface="Arial"/>
                <a:ea typeface="Arial"/>
                <a:cs typeface="Arial"/>
                <a:sym typeface="Arial"/>
              </a:rPr>
              <a:t>Using the Tutor Agent Output above, generate a 2 question quiz</a:t>
            </a:r>
            <a:endParaRPr sz="1100"/>
          </a:p>
          <a:p>
            <a:pPr indent="0" lvl="0" marL="0" rtl="0" algn="l">
              <a:spcBef>
                <a:spcPts val="0"/>
              </a:spcBef>
              <a:spcAft>
                <a:spcPts val="0"/>
              </a:spcAft>
              <a:buNone/>
            </a:pPr>
            <a:r>
              <a:t/>
            </a:r>
            <a:endParaRPr i="1" sz="14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cxnSp>
        <p:nvCxnSpPr>
          <p:cNvPr id="152" name="Google Shape;152;p26"/>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153" name="Google Shape;153;p2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Work in Progress</a:t>
            </a:r>
            <a:endParaRPr/>
          </a:p>
        </p:txBody>
      </p:sp>
      <p:pic>
        <p:nvPicPr>
          <p:cNvPr id="154" name="Google Shape;154;p26"/>
          <p:cNvPicPr preferRelativeResize="0"/>
          <p:nvPr/>
        </p:nvPicPr>
        <p:blipFill>
          <a:blip r:embed="rId3">
            <a:alphaModFix/>
          </a:blip>
          <a:stretch>
            <a:fillRect/>
          </a:stretch>
        </p:blipFill>
        <p:spPr>
          <a:xfrm>
            <a:off x="152400" y="1299625"/>
            <a:ext cx="8839198" cy="231030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cxnSp>
        <p:nvCxnSpPr>
          <p:cNvPr id="159" name="Google Shape;159;p27"/>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160" name="Google Shape;160;p2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Agent Description</a:t>
            </a:r>
            <a:endParaRPr/>
          </a:p>
        </p:txBody>
      </p:sp>
      <p:sp>
        <p:nvSpPr>
          <p:cNvPr id="161" name="Google Shape;161;p27"/>
          <p:cNvSpPr txBox="1"/>
          <p:nvPr>
            <p:ph idx="4294967295" type="body"/>
          </p:nvPr>
        </p:nvSpPr>
        <p:spPr>
          <a:xfrm>
            <a:off x="420075" y="1219700"/>
            <a:ext cx="8336100" cy="350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study</a:t>
            </a:r>
            <a:r>
              <a:rPr b="1" lang="en"/>
              <a:t>-coach</a:t>
            </a:r>
            <a:endParaRPr b="1"/>
          </a:p>
          <a:p>
            <a:pPr indent="0" lvl="0" marL="0" rtl="0" algn="l">
              <a:lnSpc>
                <a:spcPct val="115000"/>
              </a:lnSpc>
              <a:spcBef>
                <a:spcPts val="0"/>
              </a:spcBef>
              <a:spcAft>
                <a:spcPts val="0"/>
              </a:spcAft>
              <a:buNone/>
            </a:pPr>
            <a:r>
              <a:rPr i="1" lang="en" sz="1400">
                <a:latin typeface="Arial"/>
                <a:ea typeface="Arial"/>
                <a:cs typeface="Arial"/>
                <a:sym typeface="Arial"/>
              </a:rPr>
              <a:t>Create an agent named “study-coach” that coordinates the other three agents (tutor-agent, flashcard-agent, quiz-master) to ensure the tutor-agent manages to teach the user, flashcard-agent manages to reinforce memory (during review, exam prep or spaced repetition) and quiz-master intelligently reinforces learning (newly learned concepts, evaluate understanding, practice active recall).</a:t>
            </a:r>
            <a:endParaRPr i="1" sz="1400">
              <a:latin typeface="Arial"/>
              <a:ea typeface="Arial"/>
              <a:cs typeface="Arial"/>
              <a:sym typeface="Arial"/>
            </a:endParaRPr>
          </a:p>
          <a:p>
            <a:pPr indent="0" lvl="0" marL="0" rtl="0" algn="l">
              <a:lnSpc>
                <a:spcPct val="115000"/>
              </a:lnSpc>
              <a:spcBef>
                <a:spcPts val="0"/>
              </a:spcBef>
              <a:spcAft>
                <a:spcPts val="0"/>
              </a:spcAft>
              <a:buNone/>
            </a:pPr>
            <a:r>
              <a:t/>
            </a:r>
            <a:endParaRPr i="1" sz="1400">
              <a:latin typeface="Arial"/>
              <a:ea typeface="Arial"/>
              <a:cs typeface="Arial"/>
              <a:sym typeface="Arial"/>
            </a:endParaRPr>
          </a:p>
          <a:p>
            <a:pPr indent="0" lvl="0" marL="0" rtl="0" algn="l">
              <a:lnSpc>
                <a:spcPct val="115000"/>
              </a:lnSpc>
              <a:spcBef>
                <a:spcPts val="0"/>
              </a:spcBef>
              <a:spcAft>
                <a:spcPts val="0"/>
              </a:spcAft>
              <a:buNone/>
            </a:pPr>
            <a:r>
              <a:rPr i="1" lang="en" sz="1400">
                <a:latin typeface="Arial"/>
                <a:ea typeface="Arial"/>
                <a:cs typeface="Arial"/>
                <a:sym typeface="Arial"/>
              </a:rPr>
              <a:t>Use this agent when the user has completed the learning from tutor-agent, memory reinforcement from flashcard-agent and reinforced learning from quiz-master.</a:t>
            </a:r>
            <a:br>
              <a:rPr i="1" lang="en" sz="1400">
                <a:latin typeface="Arial"/>
                <a:ea typeface="Arial"/>
                <a:cs typeface="Arial"/>
                <a:sym typeface="Arial"/>
              </a:rPr>
            </a:br>
            <a:endParaRPr sz="1400">
              <a:solidFill>
                <a:srgbClr val="EE0000"/>
              </a:solidFill>
              <a:latin typeface="Arial"/>
              <a:ea typeface="Arial"/>
              <a:cs typeface="Arial"/>
              <a:sym typeface="Arial"/>
            </a:endParaRPr>
          </a:p>
          <a:p>
            <a:pPr indent="0" lvl="0" marL="0" rtl="0" algn="l">
              <a:spcBef>
                <a:spcPts val="0"/>
              </a:spcBef>
              <a:spcAft>
                <a:spcPts val="0"/>
              </a:spcAft>
              <a:buNone/>
            </a:pPr>
            <a:r>
              <a:rPr b="1" i="1" lang="en" sz="1400">
                <a:latin typeface="Arial"/>
                <a:ea typeface="Arial"/>
                <a:cs typeface="Arial"/>
                <a:sym typeface="Arial"/>
              </a:rPr>
              <a:t>Activation Prompt:</a:t>
            </a:r>
            <a:r>
              <a:rPr i="1" lang="en" sz="1400">
                <a:latin typeface="Arial"/>
                <a:ea typeface="Arial"/>
                <a:cs typeface="Arial"/>
                <a:sym typeface="Arial"/>
              </a:rPr>
              <a:t> </a:t>
            </a:r>
            <a:r>
              <a:rPr i="1" lang="en" sz="1400">
                <a:latin typeface="Arial"/>
                <a:ea typeface="Arial"/>
                <a:cs typeface="Arial"/>
                <a:sym typeface="Arial"/>
              </a:rPr>
              <a:t>Use the study-coach agent to manage the agent coordination of very briefly teaching a 30 years old health enthusiast how to stay healthy in winter. Then firstly use the output to create nothing else but a short flashcard. Then, also use the same output to generate a two question quiz only.</a:t>
            </a:r>
            <a:endParaRPr i="1" sz="1400">
              <a:latin typeface="Arial"/>
              <a:ea typeface="Arial"/>
              <a:cs typeface="Arial"/>
              <a:sym typeface="Arial"/>
            </a:endParaRPr>
          </a:p>
          <a:p>
            <a:pPr indent="0" lvl="0" marL="0" rtl="0" algn="l">
              <a:spcBef>
                <a:spcPts val="0"/>
              </a:spcBef>
              <a:spcAft>
                <a:spcPts val="0"/>
              </a:spcAft>
              <a:buNone/>
            </a:pPr>
            <a:r>
              <a:t/>
            </a:r>
            <a:endParaRPr i="1" sz="1400">
              <a:latin typeface="Arial"/>
              <a:ea typeface="Arial"/>
              <a:cs typeface="Arial"/>
              <a:sym typeface="Arial"/>
            </a:endParaRPr>
          </a:p>
          <a:p>
            <a:pPr indent="0" lvl="0" marL="0" rtl="0" algn="l">
              <a:spcBef>
                <a:spcPts val="0"/>
              </a:spcBef>
              <a:spcAft>
                <a:spcPts val="0"/>
              </a:spcAft>
              <a:buNone/>
            </a:pPr>
            <a:r>
              <a:t/>
            </a:r>
            <a:endParaRPr i="1" sz="1400">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cxnSp>
        <p:nvCxnSpPr>
          <p:cNvPr id="166" name="Google Shape;166;p28"/>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167" name="Google Shape;167;p2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Work in Progress: winter-health-lesson.md</a:t>
            </a:r>
            <a:endParaRPr/>
          </a:p>
        </p:txBody>
      </p:sp>
      <p:pic>
        <p:nvPicPr>
          <p:cNvPr id="168" name="Google Shape;168;p28"/>
          <p:cNvPicPr preferRelativeResize="0"/>
          <p:nvPr/>
        </p:nvPicPr>
        <p:blipFill>
          <a:blip r:embed="rId3">
            <a:alphaModFix/>
          </a:blip>
          <a:stretch>
            <a:fillRect/>
          </a:stretch>
        </p:blipFill>
        <p:spPr>
          <a:xfrm>
            <a:off x="152400" y="1299625"/>
            <a:ext cx="8839199" cy="180151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cxnSp>
        <p:nvCxnSpPr>
          <p:cNvPr id="173" name="Google Shape;173;p29"/>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174" name="Google Shape;174;p2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Work in Progress</a:t>
            </a:r>
            <a:endParaRPr/>
          </a:p>
        </p:txBody>
      </p:sp>
      <p:pic>
        <p:nvPicPr>
          <p:cNvPr id="175" name="Google Shape;175;p29"/>
          <p:cNvPicPr preferRelativeResize="0"/>
          <p:nvPr/>
        </p:nvPicPr>
        <p:blipFill>
          <a:blip r:embed="rId3">
            <a:alphaModFix/>
          </a:blip>
          <a:stretch>
            <a:fillRect/>
          </a:stretch>
        </p:blipFill>
        <p:spPr>
          <a:xfrm>
            <a:off x="152400" y="1299625"/>
            <a:ext cx="8839198" cy="2753921"/>
          </a:xfrm>
          <a:prstGeom prst="rect">
            <a:avLst/>
          </a:prstGeom>
          <a:noFill/>
          <a:ln>
            <a:noFill/>
          </a:ln>
        </p:spPr>
      </p:pic>
      <p:pic>
        <p:nvPicPr>
          <p:cNvPr id="176" name="Google Shape;176;p29"/>
          <p:cNvPicPr preferRelativeResize="0"/>
          <p:nvPr/>
        </p:nvPicPr>
        <p:blipFill>
          <a:blip r:embed="rId4">
            <a:alphaModFix/>
          </a:blip>
          <a:stretch>
            <a:fillRect/>
          </a:stretch>
        </p:blipFill>
        <p:spPr>
          <a:xfrm>
            <a:off x="152400" y="4205946"/>
            <a:ext cx="8839201" cy="57008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