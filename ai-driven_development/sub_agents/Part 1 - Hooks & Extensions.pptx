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Economica"/>
      <p:regular r:id="rId16"/>
      <p:bold r:id="rId17"/>
      <p:italic r:id="rId18"/>
      <p:boldItalic r:id="rId19"/>
    </p:embeddedFont>
    <p:embeddedFont>
      <p:font typeface="Open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regular.fntdata"/><Relationship Id="rId11" Type="http://schemas.openxmlformats.org/officeDocument/2006/relationships/slide" Target="slides/slide6.xml"/><Relationship Id="rId22" Type="http://schemas.openxmlformats.org/officeDocument/2006/relationships/font" Target="fonts/OpenSans-italic.fntdata"/><Relationship Id="rId10" Type="http://schemas.openxmlformats.org/officeDocument/2006/relationships/slide" Target="slides/slide5.xml"/><Relationship Id="rId21" Type="http://schemas.openxmlformats.org/officeDocument/2006/relationships/font" Target="fonts/OpenSans-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Economica-bold.fntdata"/><Relationship Id="rId16" Type="http://schemas.openxmlformats.org/officeDocument/2006/relationships/font" Target="fonts/Economica-regular.fntdata"/><Relationship Id="rId5" Type="http://schemas.openxmlformats.org/officeDocument/2006/relationships/notesMaster" Target="notesMasters/notesMaster1.xml"/><Relationship Id="rId19" Type="http://schemas.openxmlformats.org/officeDocument/2006/relationships/font" Target="fonts/Economica-boldItalic.fntdata"/><Relationship Id="rId6" Type="http://schemas.openxmlformats.org/officeDocument/2006/relationships/slide" Target="slides/slide1.xml"/><Relationship Id="rId18" Type="http://schemas.openxmlformats.org/officeDocument/2006/relationships/font" Target="fonts/Economic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8954bc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8954b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8954bc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8954b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438192cab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438192ca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438192cab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438192ca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438192cab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438192ca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438192cab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438192ca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438192cab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438192ca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438192cab_0_1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438192c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438192cab_0_1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438192ca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438192cab_0_1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438192ca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Sub Agents Assignment</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January 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cxnSp>
        <p:nvCxnSpPr>
          <p:cNvPr id="68" name="Google Shape;68;p14"/>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70" name="Google Shape;70;p14"/>
          <p:cNvSpPr txBox="1"/>
          <p:nvPr>
            <p:ph idx="4294967295" type="body"/>
          </p:nvPr>
        </p:nvSpPr>
        <p:spPr>
          <a:xfrm>
            <a:off x="420075" y="1219700"/>
            <a:ext cx="8336100" cy="28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Tutor-Agent</a:t>
            </a:r>
            <a:endParaRPr b="1" i="1"/>
          </a:p>
          <a:p>
            <a:pPr indent="0" lvl="0" marL="0" rtl="0" algn="l">
              <a:spcBef>
                <a:spcPts val="1200"/>
              </a:spcBef>
              <a:spcAft>
                <a:spcPts val="0"/>
              </a:spcAft>
              <a:buClr>
                <a:schemeClr val="dk1"/>
              </a:buClr>
              <a:buSzPts val="1100"/>
              <a:buFont typeface="Arial"/>
              <a:buNone/>
            </a:pPr>
            <a:r>
              <a:rPr i="1" lang="en" sz="1400">
                <a:latin typeface="Arial"/>
                <a:ea typeface="Arial"/>
                <a:cs typeface="Arial"/>
                <a:sym typeface="Arial"/>
              </a:rPr>
              <a:t>Describe what this agent should do and when it should be used (be comprehensive for best results)</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i="1" lang="en" sz="1400">
                <a:latin typeface="Arial"/>
                <a:ea typeface="Arial"/>
                <a:cs typeface="Arial"/>
                <a:sym typeface="Arial"/>
              </a:rPr>
              <a:t>Create an agent named tutor-agent that uses specialized and focused expertise of study-notes to guide my learning through multi-step pedagogical approach.</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i="1" lang="en" sz="1400">
                <a:latin typeface="Arial"/>
                <a:ea typeface="Arial"/>
                <a:cs typeface="Arial"/>
                <a:sym typeface="Arial"/>
              </a:rPr>
              <a:t>This agent should be used when user explicitly asks to learn, study, understand, or master a new concept, framework, or topic, or requests structured explanations, or step-by-step learning guidance.</a:t>
            </a:r>
            <a:endParaRPr i="1"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teach me how to stay healthy in winter.</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cxnSp>
        <p:nvCxnSpPr>
          <p:cNvPr id="75" name="Google Shape;75;p15"/>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76" name="Google Shape;76;p15"/>
          <p:cNvSpPr txBox="1"/>
          <p:nvPr>
            <p:ph type="title"/>
          </p:nvPr>
        </p:nvSpPr>
        <p:spPr>
          <a:xfrm>
            <a:off x="311700" y="69978"/>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Activation</a:t>
            </a:r>
            <a:endParaRPr/>
          </a:p>
        </p:txBody>
      </p:sp>
      <p:pic>
        <p:nvPicPr>
          <p:cNvPr id="77" name="Google Shape;77;p15"/>
          <p:cNvPicPr preferRelativeResize="0"/>
          <p:nvPr/>
        </p:nvPicPr>
        <p:blipFill>
          <a:blip r:embed="rId3">
            <a:alphaModFix/>
          </a:blip>
          <a:stretch>
            <a:fillRect/>
          </a:stretch>
        </p:blipFill>
        <p:spPr>
          <a:xfrm>
            <a:off x="74037" y="1002215"/>
            <a:ext cx="8995925" cy="4144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cxnSp>
        <p:nvCxnSpPr>
          <p:cNvPr id="82" name="Google Shape;82;p16"/>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83" name="Google Shape;83;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84" name="Google Shape;84;p16"/>
          <p:cNvSpPr txBox="1"/>
          <p:nvPr>
            <p:ph idx="4294967295" type="body"/>
          </p:nvPr>
        </p:nvSpPr>
        <p:spPr>
          <a:xfrm>
            <a:off x="420075" y="1219700"/>
            <a:ext cx="83361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Flashcard</a:t>
            </a:r>
            <a:r>
              <a:rPr b="1" lang="en"/>
              <a:t>-Agent</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flashcard-agent that tactically uses specialized and focused expertise of study-notes, tutor-agent and its own ability to actively recall (strengthen long term memory and reveal knowledge gaps), spaced repetition (prevent forgetting, optimize study time, increased retention with low effort), concept reinforcement, perform self-assessment and feedback, help in interview and exam preparation, skill automation (debugging heuristics, design patterns,</a:t>
            </a:r>
            <a:r>
              <a:rPr lang="en" sz="1200">
                <a:latin typeface="Arial"/>
                <a:ea typeface="Arial"/>
                <a:cs typeface="Arial"/>
                <a:sym typeface="Arial"/>
              </a:rPr>
              <a:t> m</a:t>
            </a:r>
            <a:r>
              <a:rPr i="1" lang="en" sz="1400">
                <a:latin typeface="Arial"/>
                <a:ea typeface="Arial"/>
                <a:cs typeface="Arial"/>
                <a:sym typeface="Arial"/>
              </a:rPr>
              <a:t>edical protocols, legal tests, </a:t>
            </a:r>
            <a:r>
              <a:rPr lang="en" sz="1200">
                <a:latin typeface="Arial"/>
                <a:ea typeface="Arial"/>
                <a:cs typeface="Arial"/>
                <a:sym typeface="Arial"/>
              </a:rPr>
              <a:t>c</a:t>
            </a:r>
            <a:r>
              <a:rPr i="1" lang="en" sz="1400">
                <a:latin typeface="Arial"/>
                <a:ea typeface="Arial"/>
                <a:cs typeface="Arial"/>
                <a:sym typeface="Arial"/>
              </a:rPr>
              <a:t>ommand syntax) and to guide user in learning new language (through increased vocabulary, grammar patterns, sentence structures and pronunciation cues).</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h</a:t>
            </a:r>
            <a:r>
              <a:rPr lang="en" sz="1200">
                <a:latin typeface="Arial"/>
                <a:ea typeface="Arial"/>
                <a:cs typeface="Arial"/>
                <a:sym typeface="Arial"/>
              </a:rPr>
              <a:t>as </a:t>
            </a:r>
            <a:r>
              <a:rPr i="1" lang="en" sz="1400">
                <a:latin typeface="Arial"/>
                <a:ea typeface="Arial"/>
                <a:cs typeface="Arial"/>
                <a:sym typeface="Arial"/>
              </a:rPr>
              <a:t>learned a topic or concept to reinforce memory, during review, exam prep, spaced repetition or for support in learning a new language.</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Using the Tutor Agent Output above, generate a flashcard that tests understanding, not memorization. Focus on conceptual distinction and application scenarios</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7"/>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90" name="Google Shape;90;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91" name="Google Shape;91;p17"/>
          <p:cNvPicPr preferRelativeResize="0"/>
          <p:nvPr/>
        </p:nvPicPr>
        <p:blipFill>
          <a:blip r:embed="rId3">
            <a:alphaModFix/>
          </a:blip>
          <a:stretch>
            <a:fillRect/>
          </a:stretch>
        </p:blipFill>
        <p:spPr>
          <a:xfrm>
            <a:off x="152400" y="1299625"/>
            <a:ext cx="8839201" cy="2972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cxnSp>
        <p:nvCxnSpPr>
          <p:cNvPr id="96" name="Google Shape;96;p18"/>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97" name="Google Shape;97;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98" name="Google Shape;98;p18"/>
          <p:cNvSpPr txBox="1"/>
          <p:nvPr>
            <p:ph idx="4294967295" type="body"/>
          </p:nvPr>
        </p:nvSpPr>
        <p:spPr>
          <a:xfrm>
            <a:off x="420075" y="1219700"/>
            <a:ext cx="8336100" cy="32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Quiz</a:t>
            </a:r>
            <a:r>
              <a:rPr b="1" lang="en"/>
              <a:t>-Master</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quiz-master that intelligently wraps specialized and focused expertise of study-notes, tutor-agent and contains expertise to generate meaningful questions from source content, to generate assessment items (questions, prompts, distractors) from learning material, to design evaluative questions to measure understanding, to promote active recall from learned material, to reinforce learning during study, to encourage explanation and reasoning, to verify comprehension of key concepts and to guide user learning through multi-step pedagogical approach.</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wants to reinforce newly learned concepts, evaluate their understanding of a topic, or practice active recall during or after study.</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Using the Tutor Agent Output above, generate a 2 question quiz</a:t>
            </a:r>
            <a:endParaRPr sz="1100"/>
          </a:p>
          <a:p>
            <a:pPr indent="0" lvl="0" marL="0" rtl="0" algn="l">
              <a:spcBef>
                <a:spcPts val="0"/>
              </a:spcBef>
              <a:spcAft>
                <a:spcPts val="0"/>
              </a:spcAft>
              <a:buNone/>
            </a:pPr>
            <a:r>
              <a:t/>
            </a:r>
            <a:endParaRPr i="1" sz="14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cxnSp>
        <p:nvCxnSpPr>
          <p:cNvPr id="103" name="Google Shape;103;p19"/>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04" name="Google Shape;104;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105" name="Google Shape;105;p19"/>
          <p:cNvPicPr preferRelativeResize="0"/>
          <p:nvPr/>
        </p:nvPicPr>
        <p:blipFill>
          <a:blip r:embed="rId3">
            <a:alphaModFix/>
          </a:blip>
          <a:stretch>
            <a:fillRect/>
          </a:stretch>
        </p:blipFill>
        <p:spPr>
          <a:xfrm>
            <a:off x="152400" y="1299625"/>
            <a:ext cx="8839198" cy="23103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cxnSp>
        <p:nvCxnSpPr>
          <p:cNvPr id="110" name="Google Shape;110;p20"/>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11" name="Google Shape;111;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Agent Description</a:t>
            </a:r>
            <a:endParaRPr/>
          </a:p>
        </p:txBody>
      </p:sp>
      <p:sp>
        <p:nvSpPr>
          <p:cNvPr id="112" name="Google Shape;112;p20"/>
          <p:cNvSpPr txBox="1"/>
          <p:nvPr>
            <p:ph idx="4294967295" type="body"/>
          </p:nvPr>
        </p:nvSpPr>
        <p:spPr>
          <a:xfrm>
            <a:off x="420075" y="1219700"/>
            <a:ext cx="8336100" cy="35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study</a:t>
            </a:r>
            <a:r>
              <a:rPr b="1" lang="en"/>
              <a:t>-coach</a:t>
            </a:r>
            <a:endParaRPr b="1"/>
          </a:p>
          <a:p>
            <a:pPr indent="0" lvl="0" marL="0" rtl="0" algn="l">
              <a:lnSpc>
                <a:spcPct val="115000"/>
              </a:lnSpc>
              <a:spcBef>
                <a:spcPts val="0"/>
              </a:spcBef>
              <a:spcAft>
                <a:spcPts val="0"/>
              </a:spcAft>
              <a:buNone/>
            </a:pPr>
            <a:r>
              <a:rPr i="1" lang="en" sz="1400">
                <a:latin typeface="Arial"/>
                <a:ea typeface="Arial"/>
                <a:cs typeface="Arial"/>
                <a:sym typeface="Arial"/>
              </a:rPr>
              <a:t>Create an agent named “study-coach” that coordinates the other three agents (tutor-agent, flashcard-agent, quiz-master) to ensure the tutor-agent manages to teach the user, flashcard-agent manages to reinforce memory (during review, exam prep or spaced repetition) and quiz-master intelligently reinforces learning (newly learned concepts, evaluate understanding, practice active recall).</a:t>
            </a:r>
            <a:endParaRPr i="1" sz="1400">
              <a:latin typeface="Arial"/>
              <a:ea typeface="Arial"/>
              <a:cs typeface="Arial"/>
              <a:sym typeface="Arial"/>
            </a:endParaRPr>
          </a:p>
          <a:p>
            <a:pPr indent="0" lvl="0" marL="0" rtl="0" algn="l">
              <a:lnSpc>
                <a:spcPct val="115000"/>
              </a:lnSpc>
              <a:spcBef>
                <a:spcPts val="0"/>
              </a:spcBef>
              <a:spcAft>
                <a:spcPts val="0"/>
              </a:spcAft>
              <a:buNone/>
            </a:pPr>
            <a:r>
              <a:t/>
            </a:r>
            <a:endParaRPr i="1" sz="1400">
              <a:latin typeface="Arial"/>
              <a:ea typeface="Arial"/>
              <a:cs typeface="Arial"/>
              <a:sym typeface="Arial"/>
            </a:endParaRPr>
          </a:p>
          <a:p>
            <a:pPr indent="0" lvl="0" marL="0" rtl="0" algn="l">
              <a:lnSpc>
                <a:spcPct val="115000"/>
              </a:lnSpc>
              <a:spcBef>
                <a:spcPts val="0"/>
              </a:spcBef>
              <a:spcAft>
                <a:spcPts val="0"/>
              </a:spcAft>
              <a:buNone/>
            </a:pPr>
            <a:r>
              <a:rPr i="1" lang="en" sz="1400">
                <a:latin typeface="Arial"/>
                <a:ea typeface="Arial"/>
                <a:cs typeface="Arial"/>
                <a:sym typeface="Arial"/>
              </a:rPr>
              <a:t>Use this agent when the user has completed the learning from tutor-agent, memory reinforcement from flashcard-agent and reinforced learning from quiz-master.</a:t>
            </a:r>
            <a:br>
              <a:rPr i="1" lang="en" sz="1400">
                <a:latin typeface="Arial"/>
                <a:ea typeface="Arial"/>
                <a:cs typeface="Arial"/>
                <a:sym typeface="Arial"/>
              </a:rPr>
            </a:br>
            <a:endParaRPr sz="1400">
              <a:solidFill>
                <a:srgbClr val="EE0000"/>
              </a:solidFill>
              <a:latin typeface="Arial"/>
              <a:ea typeface="Arial"/>
              <a:cs typeface="Arial"/>
              <a:sym typeface="Arial"/>
            </a:endParaRPr>
          </a:p>
          <a:p>
            <a:pPr indent="0" lvl="0" marL="0" rtl="0" algn="l">
              <a:spcBef>
                <a:spcPts val="0"/>
              </a:spcBef>
              <a:spcAft>
                <a:spcPts val="0"/>
              </a:spcAft>
              <a:buNone/>
            </a:pPr>
            <a:r>
              <a:rPr b="1" i="1" lang="en" sz="1400">
                <a:latin typeface="Arial"/>
                <a:ea typeface="Arial"/>
                <a:cs typeface="Arial"/>
                <a:sym typeface="Arial"/>
              </a:rPr>
              <a:t>Activation Prompt:</a:t>
            </a:r>
            <a:r>
              <a:rPr i="1" lang="en" sz="1400">
                <a:latin typeface="Arial"/>
                <a:ea typeface="Arial"/>
                <a:cs typeface="Arial"/>
                <a:sym typeface="Arial"/>
              </a:rPr>
              <a:t> </a:t>
            </a:r>
            <a:r>
              <a:rPr i="1" lang="en" sz="1400">
                <a:latin typeface="Arial"/>
                <a:ea typeface="Arial"/>
                <a:cs typeface="Arial"/>
                <a:sym typeface="Arial"/>
              </a:rPr>
              <a:t>Use the study-coach agent to manage the agent coordination of very briefly teaching a 30 years old health enthusiast how to stay healthy in winter. Then firstly use the output to create nothing else but a short flashcard. Then, also use the same output to generate a two question quiz only.</a:t>
            </a:r>
            <a:endParaRPr i="1" sz="1400">
              <a:latin typeface="Arial"/>
              <a:ea typeface="Arial"/>
              <a:cs typeface="Arial"/>
              <a:sym typeface="Arial"/>
            </a:endParaRPr>
          </a:p>
          <a:p>
            <a:pPr indent="0" lvl="0" marL="0" rtl="0" algn="l">
              <a:spcBef>
                <a:spcPts val="0"/>
              </a:spcBef>
              <a:spcAft>
                <a:spcPts val="0"/>
              </a:spcAft>
              <a:buNone/>
            </a:pPr>
            <a:r>
              <a:t/>
            </a:r>
            <a:endParaRPr i="1" sz="1400">
              <a:latin typeface="Arial"/>
              <a:ea typeface="Arial"/>
              <a:cs typeface="Arial"/>
              <a:sym typeface="Arial"/>
            </a:endParaRPr>
          </a:p>
          <a:p>
            <a:pPr indent="0" lvl="0" marL="0" rtl="0" algn="l">
              <a:spcBef>
                <a:spcPts val="0"/>
              </a:spcBef>
              <a:spcAft>
                <a:spcPts val="0"/>
              </a:spcAft>
              <a:buNone/>
            </a:pPr>
            <a:r>
              <a:t/>
            </a:r>
            <a:endParaRPr i="1" sz="14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cxnSp>
        <p:nvCxnSpPr>
          <p:cNvPr id="117" name="Google Shape;117;p21"/>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18" name="Google Shape;118;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 winter-health-lesson.md</a:t>
            </a:r>
            <a:endParaRPr/>
          </a:p>
        </p:txBody>
      </p:sp>
      <p:pic>
        <p:nvPicPr>
          <p:cNvPr id="119" name="Google Shape;119;p21"/>
          <p:cNvPicPr preferRelativeResize="0"/>
          <p:nvPr/>
        </p:nvPicPr>
        <p:blipFill>
          <a:blip r:embed="rId3">
            <a:alphaModFix/>
          </a:blip>
          <a:stretch>
            <a:fillRect/>
          </a:stretch>
        </p:blipFill>
        <p:spPr>
          <a:xfrm>
            <a:off x="152400" y="1299625"/>
            <a:ext cx="8839199" cy="18015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cxnSp>
        <p:nvCxnSpPr>
          <p:cNvPr id="124" name="Google Shape;124;p22"/>
          <p:cNvCxnSpPr/>
          <p:nvPr/>
        </p:nvCxnSpPr>
        <p:spPr>
          <a:xfrm>
            <a:off x="403950" y="1066387"/>
            <a:ext cx="8336100" cy="0"/>
          </a:xfrm>
          <a:prstGeom prst="straightConnector1">
            <a:avLst/>
          </a:prstGeom>
          <a:noFill/>
          <a:ln cap="flat" cmpd="sng" w="19050">
            <a:solidFill>
              <a:schemeClr val="dk1"/>
            </a:solidFill>
            <a:prstDash val="dot"/>
            <a:round/>
            <a:headEnd len="sm" w="sm" type="none"/>
            <a:tailEnd len="sm" w="sm" type="none"/>
          </a:ln>
        </p:spPr>
      </p:cxnSp>
      <p:sp>
        <p:nvSpPr>
          <p:cNvPr id="125" name="Google Shape;125;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Work in Progress</a:t>
            </a:r>
            <a:endParaRPr/>
          </a:p>
        </p:txBody>
      </p:sp>
      <p:pic>
        <p:nvPicPr>
          <p:cNvPr id="126" name="Google Shape;126;p22"/>
          <p:cNvPicPr preferRelativeResize="0"/>
          <p:nvPr/>
        </p:nvPicPr>
        <p:blipFill>
          <a:blip r:embed="rId3">
            <a:alphaModFix/>
          </a:blip>
          <a:stretch>
            <a:fillRect/>
          </a:stretch>
        </p:blipFill>
        <p:spPr>
          <a:xfrm>
            <a:off x="152400" y="1299625"/>
            <a:ext cx="8839198" cy="2753921"/>
          </a:xfrm>
          <a:prstGeom prst="rect">
            <a:avLst/>
          </a:prstGeom>
          <a:noFill/>
          <a:ln>
            <a:noFill/>
          </a:ln>
        </p:spPr>
      </p:pic>
      <p:pic>
        <p:nvPicPr>
          <p:cNvPr id="127" name="Google Shape;127;p22"/>
          <p:cNvPicPr preferRelativeResize="0"/>
          <p:nvPr/>
        </p:nvPicPr>
        <p:blipFill>
          <a:blip r:embed="rId4">
            <a:alphaModFix/>
          </a:blip>
          <a:stretch>
            <a:fillRect/>
          </a:stretch>
        </p:blipFill>
        <p:spPr>
          <a:xfrm>
            <a:off x="152400" y="4205946"/>
            <a:ext cx="8839201" cy="5700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